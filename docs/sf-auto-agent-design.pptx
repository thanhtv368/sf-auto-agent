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0"/>
            <a:ext cx="1353312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4400" b="1">
                <a:solidFill>
                  <a:srgbClr val="1F4E78"/>
                </a:solidFill>
              </a:rPr>
              <a:t>SF Auto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023360"/>
            <a:ext cx="13533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400" b="0">
                <a:solidFill>
                  <a:srgbClr val="606060"/>
                </a:solidFill>
              </a:rPr>
              <a:t>End-to-End Solution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135331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</a:rPr>
              <a:t>Jira → AI Orchestrator → Salesforce PR — fully governed, human-approved.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</a:rPr>
              <a:t>End-to-End Agent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371600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Six sequential phases. Hard gates: human reply (Phase 2) · human approval (Phase 3) · human merge (after Phase 6).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234440"/>
            <a:ext cx="14264640" cy="10515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48740"/>
            <a:ext cx="1737360" cy="822960"/>
          </a:xfrm>
          <a:prstGeom prst="rect">
            <a:avLst/>
          </a:prstGeom>
          <a:solidFill>
            <a:srgbClr val="FCE4D6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1.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60369" y="1371600"/>
            <a:ext cx="2926080" cy="77724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Jira Ticket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(In Progress)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9419" y="1371600"/>
            <a:ext cx="2926080" cy="777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Orchestrator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polls JQL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18469" y="1371600"/>
            <a:ext cx="2926080" cy="777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Classify by label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(ai-* state)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2170" y="1760220"/>
            <a:ext cx="811529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61220" y="1760220"/>
            <a:ext cx="811529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82880" y="2331720"/>
            <a:ext cx="14264640" cy="10515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446020"/>
            <a:ext cx="1737360" cy="822960"/>
          </a:xfrm>
          <a:prstGeom prst="rect">
            <a:avLst/>
          </a:prstGeom>
          <a:solidFill>
            <a:srgbClr val="FFE699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2. Clarify</a:t>
            </a:r>
          </a:p>
          <a:p>
            <a:pPr algn="ctr"/>
            <a:r>
              <a:rPr sz="1300" b="1">
                <a:solidFill>
                  <a:srgbClr val="202020"/>
                </a:solidFill>
              </a:rPr>
              <a:t>(if ambiguous)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0369" y="2468879"/>
            <a:ext cx="2926080" cy="777240"/>
          </a:xfrm>
          <a:prstGeom prst="roundRect">
            <a:avLst/>
          </a:prstGeom>
          <a:solidFill>
            <a:srgbClr val="FFE699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Post Questions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label: ai-questions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9419" y="2468879"/>
            <a:ext cx="2926080" cy="777240"/>
          </a:xfrm>
          <a:prstGeom prst="roundRect">
            <a:avLst/>
          </a:prstGeom>
          <a:solidFill>
            <a:srgbClr val="FFE699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Human Reply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on Jira ticket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18469" y="2468879"/>
            <a:ext cx="2926080" cy="7772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Replies feed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techlead next run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32170" y="2857499"/>
            <a:ext cx="811529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761220" y="2857499"/>
            <a:ext cx="811529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82880" y="3429000"/>
            <a:ext cx="14264640" cy="10515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43300"/>
            <a:ext cx="1737360" cy="822960"/>
          </a:xfrm>
          <a:prstGeom prst="rect">
            <a:avLst/>
          </a:prstGeom>
          <a:solidFill>
            <a:srgbClr val="E2EFDA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3.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60369" y="3566160"/>
            <a:ext cx="2926080" cy="7772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techlead agent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generates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89419" y="3566160"/>
            <a:ext cx="2926080" cy="7772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Post Plan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label: ai-plan-posted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18469" y="3566160"/>
            <a:ext cx="2926080" cy="777240"/>
          </a:xfrm>
          <a:prstGeom prst="roundRect">
            <a:avLst/>
          </a:prstGeom>
          <a:solidFill>
            <a:srgbClr val="FFE699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Human Approval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('approved' / 'lgtm')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32170" y="3954780"/>
            <a:ext cx="811529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761220" y="3954780"/>
            <a:ext cx="811529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82880" y="4526279"/>
            <a:ext cx="14264640" cy="10515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640579"/>
            <a:ext cx="1737360" cy="822960"/>
          </a:xfrm>
          <a:prstGeom prst="rect">
            <a:avLst/>
          </a:prstGeom>
          <a:solidFill>
            <a:srgbClr val="FFF2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4. Build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60369" y="4663440"/>
            <a:ext cx="2926080" cy="77724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contract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metadata + APIs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89419" y="4663440"/>
            <a:ext cx="2926080" cy="77724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backend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Apex · Flows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18469" y="4663440"/>
            <a:ext cx="2926080" cy="77724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frontend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LWC · Aura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32170" y="5052059"/>
            <a:ext cx="811529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761220" y="5052059"/>
            <a:ext cx="811529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82880" y="5623560"/>
            <a:ext cx="14264640" cy="10515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737860"/>
            <a:ext cx="1737360" cy="822960"/>
          </a:xfrm>
          <a:prstGeom prst="rect">
            <a:avLst/>
          </a:prstGeom>
          <a:solidFill>
            <a:srgbClr val="F4CC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5. Validate</a:t>
            </a:r>
          </a:p>
          <a:p>
            <a:pPr algn="ctr"/>
            <a:r>
              <a:rPr sz="1300" b="1">
                <a:solidFill>
                  <a:srgbClr val="202020"/>
                </a:solidFill>
              </a:rPr>
              <a:t>(scratch org)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60369" y="5760720"/>
            <a:ext cx="2926080" cy="77724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Deploy to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per-branch scratch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89419" y="5760720"/>
            <a:ext cx="2926080" cy="77724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Apex tests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coverage ≥ 75%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18469" y="5760720"/>
            <a:ext cx="2926080" cy="77724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LWC Jest +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Code Analyzer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32170" y="6149340"/>
            <a:ext cx="811529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761220" y="6149340"/>
            <a:ext cx="811529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82880" y="6720840"/>
            <a:ext cx="14264640" cy="10515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6835140"/>
            <a:ext cx="1737360" cy="822960"/>
          </a:xfrm>
          <a:prstGeom prst="rect">
            <a:avLst/>
          </a:prstGeom>
          <a:solidFill>
            <a:srgbClr val="E2EFDA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6. Ship &amp; QA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60369" y="6858000"/>
            <a:ext cx="2926080" cy="777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Commit · Push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Open PR (gh)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89419" y="6858000"/>
            <a:ext cx="2926080" cy="77724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tester agent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SHA-pinned report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618469" y="6858000"/>
            <a:ext cx="2926080" cy="7772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02020"/>
                </a:solidFill>
              </a:rPr>
              <a:t>dev-fixer (≤3×)</a:t>
            </a:r>
          </a:p>
          <a:p>
            <a:pPr algn="ctr"/>
            <a:r>
              <a:rPr sz="1200" b="1">
                <a:solidFill>
                  <a:srgbClr val="202020"/>
                </a:solidFill>
              </a:rPr>
              <a:t>→ ai-implemented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32170" y="7246620"/>
            <a:ext cx="811529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761220" y="7246620"/>
            <a:ext cx="811529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457200" y="7680960"/>
            <a:ext cx="201168" cy="201168"/>
          </a:xfrm>
          <a:prstGeom prst="rect">
            <a:avLst/>
          </a:prstGeom>
          <a:solidFill>
            <a:srgbClr val="FCE4D6"/>
          </a:solidFill>
          <a:ln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" y="7662672"/>
            <a:ext cx="146304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Jira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7680960"/>
            <a:ext cx="201168" cy="201168"/>
          </a:xfrm>
          <a:prstGeom prst="rect">
            <a:avLst/>
          </a:prstGeom>
          <a:solidFill>
            <a:srgbClr val="DEEBF7"/>
          </a:solidFill>
          <a:ln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98648" y="7662672"/>
            <a:ext cx="146304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Orchestrator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0" y="7680960"/>
            <a:ext cx="201168" cy="201168"/>
          </a:xfrm>
          <a:prstGeom prst="rect">
            <a:avLst/>
          </a:prstGeom>
          <a:solidFill>
            <a:srgbClr val="E2EFDA"/>
          </a:solidFill>
          <a:ln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93208" y="7662672"/>
            <a:ext cx="146304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Planning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79" y="7680960"/>
            <a:ext cx="201168" cy="201168"/>
          </a:xfrm>
          <a:prstGeom prst="rect">
            <a:avLst/>
          </a:prstGeom>
          <a:solidFill>
            <a:srgbClr val="FFF2CC"/>
          </a:solidFill>
          <a:ln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87767" y="7662672"/>
            <a:ext cx="146304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Build agent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7680960"/>
            <a:ext cx="201168" cy="201168"/>
          </a:xfrm>
          <a:prstGeom prst="rect">
            <a:avLst/>
          </a:prstGeom>
          <a:solidFill>
            <a:srgbClr val="F4CCCC"/>
          </a:solidFill>
          <a:ln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82328" y="7662672"/>
            <a:ext cx="146304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Quality / Test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0" y="7680960"/>
            <a:ext cx="201168" cy="201168"/>
          </a:xfrm>
          <a:prstGeom prst="rect">
            <a:avLst/>
          </a:prstGeom>
          <a:solidFill>
            <a:srgbClr val="FFE699"/>
          </a:solidFill>
          <a:ln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676888" y="7662672"/>
            <a:ext cx="146304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Human step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</a:rPr>
              <a:t>Ticket State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371600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Driven by Jira labels. Exactly one ai-* label active at a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2377440" cy="128016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NEW</a:t>
            </a:r>
          </a:p>
          <a:p>
            <a:pPr algn="ctr"/>
          </a:p>
          <a:p>
            <a:pPr algn="ctr"/>
            <a:r>
              <a:rPr sz="1300" b="1">
                <a:solidFill>
                  <a:srgbClr val="202020"/>
                </a:solidFill>
              </a:rPr>
              <a:t>(no label)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377440"/>
            <a:ext cx="2377440" cy="1280160"/>
          </a:xfrm>
          <a:prstGeom prst="roundRect">
            <a:avLst/>
          </a:prstGeom>
          <a:solidFill>
            <a:srgbClr val="FFE699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QUESTIONS_ASKED</a:t>
            </a:r>
          </a:p>
          <a:p>
            <a:pPr algn="ctr"/>
          </a:p>
          <a:p>
            <a:pPr algn="ctr"/>
            <a:r>
              <a:rPr sz="1300" b="1">
                <a:solidFill>
                  <a:srgbClr val="202020"/>
                </a:solidFill>
              </a:rPr>
              <a:t>ai-questions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17520" y="3017520"/>
            <a:ext cx="365760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126480" y="2377440"/>
            <a:ext cx="237744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PLAN_POSTED</a:t>
            </a:r>
          </a:p>
          <a:p>
            <a:pPr algn="ctr"/>
          </a:p>
          <a:p>
            <a:pPr algn="ctr"/>
            <a:r>
              <a:rPr sz="1300" b="1">
                <a:solidFill>
                  <a:srgbClr val="202020"/>
                </a:solidFill>
              </a:rPr>
              <a:t>ai-plan-posted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720" y="3017520"/>
            <a:ext cx="365760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869680" y="2377440"/>
            <a:ext cx="2377440" cy="128016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IN_PROGRESS</a:t>
            </a:r>
          </a:p>
          <a:p>
            <a:pPr algn="ctr"/>
          </a:p>
          <a:p>
            <a:pPr algn="ctr"/>
            <a:r>
              <a:rPr sz="1300" b="1">
                <a:solidFill>
                  <a:srgbClr val="202020"/>
                </a:solidFill>
              </a:rPr>
              <a:t>ai-in-progress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03920" y="3017520"/>
            <a:ext cx="365760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612880" y="2377440"/>
            <a:ext cx="2377440" cy="128016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COMPLETED</a:t>
            </a:r>
          </a:p>
          <a:p>
            <a:pPr algn="ctr"/>
          </a:p>
          <a:p>
            <a:pPr algn="ctr"/>
            <a:r>
              <a:rPr sz="1300" b="1">
                <a:solidFill>
                  <a:srgbClr val="202020"/>
                </a:solidFill>
              </a:rPr>
              <a:t>ai-implemented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247119" y="3017520"/>
            <a:ext cx="365761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54879" y="4572000"/>
            <a:ext cx="2377440" cy="128016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ERROR</a:t>
            </a:r>
          </a:p>
          <a:p>
            <a:pPr algn="ctr"/>
          </a:p>
          <a:p>
            <a:pPr algn="ctr"/>
            <a:r>
              <a:rPr sz="1300" b="1">
                <a:solidFill>
                  <a:srgbClr val="202020"/>
                </a:solidFill>
              </a:rPr>
              <a:t>ai-error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572000"/>
            <a:ext cx="2377440" cy="128016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BLOCKED</a:t>
            </a:r>
          </a:p>
          <a:p>
            <a:pPr algn="ctr"/>
          </a:p>
          <a:p>
            <a:pPr algn="ctr"/>
            <a:r>
              <a:rPr sz="1300" b="1">
                <a:solidFill>
                  <a:srgbClr val="202020"/>
                </a:solidFill>
              </a:rPr>
              <a:t>ai-needs-human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80760"/>
            <a:ext cx="137160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300" b="0">
                <a:solidFill>
                  <a:srgbClr val="202020"/>
                </a:solidFill>
              </a:rPr>
              <a:t>ERROR = implementation halted (human diagnostic).   BLOCKED = fix cap (3×) reached (human takeover).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</a:rPr>
              <a:t>Sub-Agent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371600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Each sub-agent is spawned by the orchestrator and writes its own commits.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26080"/>
            <a:ext cx="2103120" cy="18288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techlead</a:t>
            </a:r>
          </a:p>
          <a:p>
            <a:pPr algn="ctr"/>
          </a:p>
          <a:p>
            <a:pPr algn="ctr"/>
            <a:r>
              <a:rPr sz="1300" b="1">
                <a:solidFill>
                  <a:srgbClr val="202020"/>
                </a:solidFill>
              </a:rPr>
              <a:t>Reads ticket</a:t>
            </a:r>
          </a:p>
          <a:p>
            <a:pPr algn="ctr"/>
            <a:r>
              <a:rPr sz="1300" b="1">
                <a:solidFill>
                  <a:srgbClr val="202020"/>
                </a:solidFill>
              </a:rPr>
              <a:t>+ replies</a:t>
            </a:r>
          </a:p>
          <a:p>
            <a:pPr algn="ctr"/>
            <a:r>
              <a:rPr sz="1300" b="1">
                <a:solidFill>
                  <a:srgbClr val="202020"/>
                </a:solidFill>
              </a:rPr>
              <a:t>Builds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2926080"/>
            <a:ext cx="2103120" cy="18288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contract</a:t>
            </a:r>
          </a:p>
          <a:p>
            <a:pPr algn="ctr"/>
          </a:p>
          <a:p>
            <a:pPr algn="ctr"/>
            <a:r>
              <a:rPr sz="1300" b="1">
                <a:solidFill>
                  <a:srgbClr val="202020"/>
                </a:solidFill>
              </a:rPr>
              <a:t>Metadata</a:t>
            </a:r>
          </a:p>
          <a:p>
            <a:pPr algn="ctr"/>
            <a:r>
              <a:rPr sz="1300" b="1">
                <a:solidFill>
                  <a:srgbClr val="202020"/>
                </a:solidFill>
              </a:rPr>
              <a:t>+ Apex APIs</a:t>
            </a:r>
          </a:p>
          <a:p>
            <a:pPr algn="ctr"/>
            <a:r>
              <a:rPr sz="1300" b="1">
                <a:solidFill>
                  <a:srgbClr val="202020"/>
                </a:solidFill>
              </a:rPr>
              <a:t>+ Permission sets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70048" y="3840480"/>
            <a:ext cx="146304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20640" y="2926080"/>
            <a:ext cx="2103120" cy="18288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backend</a:t>
            </a:r>
          </a:p>
          <a:p>
            <a:pPr algn="ctr"/>
          </a:p>
          <a:p>
            <a:pPr algn="ctr"/>
            <a:r>
              <a:rPr sz="1300" b="1">
                <a:solidFill>
                  <a:srgbClr val="202020"/>
                </a:solidFill>
              </a:rPr>
              <a:t>Apex classes</a:t>
            </a:r>
          </a:p>
          <a:p>
            <a:pPr algn="ctr"/>
            <a:r>
              <a:rPr sz="1300" b="1">
                <a:solidFill>
                  <a:srgbClr val="202020"/>
                </a:solidFill>
              </a:rPr>
              <a:t>Triggers</a:t>
            </a:r>
          </a:p>
          <a:p>
            <a:pPr algn="ctr"/>
            <a:r>
              <a:rPr sz="1300" b="1">
                <a:solidFill>
                  <a:srgbClr val="202020"/>
                </a:solidFill>
              </a:rPr>
              <a:t>Flows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56048" y="3840480"/>
            <a:ext cx="146304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06640" y="2926080"/>
            <a:ext cx="2103120" cy="18288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frontend</a:t>
            </a:r>
          </a:p>
          <a:p>
            <a:pPr algn="ctr"/>
          </a:p>
          <a:p>
            <a:pPr algn="ctr"/>
            <a:r>
              <a:rPr sz="1300" b="1">
                <a:solidFill>
                  <a:srgbClr val="202020"/>
                </a:solidFill>
              </a:rPr>
              <a:t>LWC / Aura</a:t>
            </a:r>
          </a:p>
          <a:p>
            <a:pPr algn="ctr"/>
            <a:r>
              <a:rPr sz="1300" b="1">
                <a:solidFill>
                  <a:srgbClr val="202020"/>
                </a:solidFill>
              </a:rPr>
              <a:t>components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42048" y="3840480"/>
            <a:ext cx="146304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92640" y="2926080"/>
            <a:ext cx="2103120" cy="182880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tester</a:t>
            </a:r>
          </a:p>
          <a:p>
            <a:pPr algn="ctr"/>
          </a:p>
          <a:p>
            <a:pPr algn="ctr"/>
            <a:r>
              <a:rPr sz="1300" b="1">
                <a:solidFill>
                  <a:srgbClr val="202020"/>
                </a:solidFill>
              </a:rPr>
              <a:t>Validate</a:t>
            </a:r>
          </a:p>
          <a:p>
            <a:pPr algn="ctr"/>
            <a:r>
              <a:rPr sz="1300" b="1">
                <a:solidFill>
                  <a:srgbClr val="202020"/>
                </a:solidFill>
              </a:rPr>
              <a:t>Apex + Jest</a:t>
            </a:r>
          </a:p>
          <a:p>
            <a:pPr algn="ctr"/>
            <a:r>
              <a:rPr sz="1300" b="1">
                <a:solidFill>
                  <a:srgbClr val="202020"/>
                </a:solidFill>
              </a:rPr>
              <a:t>SHA report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8048" y="3840480"/>
            <a:ext cx="146304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1978640" y="2926080"/>
            <a:ext cx="2103120" cy="182880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02020"/>
                </a:solidFill>
              </a:rPr>
              <a:t>dev-fixer</a:t>
            </a:r>
          </a:p>
          <a:p>
            <a:pPr algn="ctr"/>
          </a:p>
          <a:p>
            <a:pPr algn="ctr"/>
            <a:r>
              <a:rPr sz="1300" b="1">
                <a:solidFill>
                  <a:srgbClr val="202020"/>
                </a:solidFill>
              </a:rPr>
              <a:t>Minimal fix</a:t>
            </a:r>
          </a:p>
          <a:p>
            <a:pPr algn="ctr"/>
            <a:r>
              <a:rPr sz="1300" b="1">
                <a:solidFill>
                  <a:srgbClr val="202020"/>
                </a:solidFill>
              </a:rPr>
              <a:t>≤ 3 attempts</a:t>
            </a:r>
          </a:p>
          <a:p>
            <a:pPr algn="ctr"/>
            <a:r>
              <a:rPr sz="1300" b="1">
                <a:solidFill>
                  <a:srgbClr val="202020"/>
                </a:solidFill>
              </a:rPr>
              <a:t>then ai-needs-human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814048" y="3840480"/>
            <a:ext cx="146304" cy="0"/>
          </a:xfrm>
          <a:prstGeom prst="line">
            <a:avLst/>
          </a:prstGeom>
          <a:ln w="19050">
            <a:solidFill>
              <a:srgbClr val="1F4E7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5486400"/>
            <a:ext cx="137160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Hard gates: human reply · human approval · human merge.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37160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200" b="0">
                <a:solidFill>
                  <a:srgbClr val="202020"/>
                </a:solidFill>
              </a:rPr>
              <a:t>Per-ticket: isolated git worktree + per-branch scratch org · torn down on success, preserved on error.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
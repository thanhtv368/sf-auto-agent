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533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1F4E78"/>
                </a:solidFill>
              </a:rPr>
              <a:t>SF Auto Agent — End-to-End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353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606060"/>
                </a:solidFill>
              </a:rPr>
              <a:t>Jira → Orchestrator → Planning → Build → Quality → PR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3716000" cy="457200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2400" b="1">
                <a:solidFill>
                  <a:srgbClr val="1F4E78"/>
                </a:solidFill>
              </a:rPr>
              <a:t>End-to-End Agent Process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126480" y="914400"/>
            <a:ext cx="2377440" cy="777240"/>
          </a:xfrm>
          <a:prstGeom prst="roundRect">
            <a:avLst/>
          </a:prstGeom>
          <a:solidFill>
            <a:srgbClr val="FCE4D6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202020"/>
                </a:solidFill>
              </a:rPr>
              <a:t>Jira Ticket</a:t>
            </a:r>
          </a:p>
          <a:p>
            <a:pPr algn="ctr"/>
            <a:r>
              <a:rPr sz="1400" b="1">
                <a:solidFill>
                  <a:srgbClr val="202020"/>
                </a:solidFill>
              </a:rPr>
              <a:t>(In Progress)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0" y="1920240"/>
            <a:ext cx="2377440" cy="77724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202020"/>
                </a:solidFill>
              </a:rPr>
              <a:t>Orchestrator</a:t>
            </a:r>
          </a:p>
          <a:p>
            <a:pPr algn="ctr"/>
            <a:r>
              <a:rPr sz="1400" b="1">
                <a:solidFill>
                  <a:srgbClr val="202020"/>
                </a:solidFill>
              </a:rPr>
              <a:t>Fetch JQL · Drive State</a:t>
            </a:r>
          </a:p>
        </p:txBody>
      </p:sp>
      <p:sp>
        <p:nvSpPr>
          <p:cNvPr id="5" name="Diamond 4"/>
          <p:cNvSpPr/>
          <p:nvPr/>
        </p:nvSpPr>
        <p:spPr>
          <a:xfrm>
            <a:off x="6126480" y="2926080"/>
            <a:ext cx="2194560" cy="777240"/>
          </a:xfrm>
          <a:prstGeom prst="diamond">
            <a:avLst/>
          </a:prstGeom>
          <a:solidFill>
            <a:srgbClr val="D9D2E9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02020"/>
                </a:solidFill>
              </a:rPr>
              <a:t>Ambiguous?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3931920"/>
            <a:ext cx="2377440" cy="777240"/>
          </a:xfrm>
          <a:prstGeom prst="roundRect">
            <a:avLst/>
          </a:prstGeom>
          <a:solidFill>
            <a:srgbClr val="FFE699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202020"/>
                </a:solidFill>
              </a:rPr>
              <a:t>Post Questions</a:t>
            </a:r>
          </a:p>
          <a:p>
            <a:pPr algn="ctr"/>
            <a:r>
              <a:rPr sz="1400" b="1">
                <a:solidFill>
                  <a:srgbClr val="202020"/>
                </a:solidFill>
              </a:rPr>
              <a:t>(label: ai-questions)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4937760"/>
            <a:ext cx="2377440" cy="777240"/>
          </a:xfrm>
          <a:prstGeom prst="roundRect">
            <a:avLst/>
          </a:prstGeom>
          <a:solidFill>
            <a:srgbClr val="FFE699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202020"/>
                </a:solidFill>
              </a:rPr>
              <a:t>Human Reply</a:t>
            </a:r>
          </a:p>
          <a:p>
            <a:pPr algn="ctr"/>
            <a:r>
              <a:rPr sz="1400" b="1">
                <a:solidFill>
                  <a:srgbClr val="202020"/>
                </a:solidFill>
              </a:rPr>
              <a:t>on Jira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3931920"/>
            <a:ext cx="2377440" cy="777240"/>
          </a:xfrm>
          <a:prstGeom prst="roundRect">
            <a:avLst/>
          </a:prstGeom>
          <a:solidFill>
            <a:srgbClr val="E2EFDA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202020"/>
                </a:solidFill>
              </a:rPr>
              <a:t>techlead agent</a:t>
            </a:r>
          </a:p>
          <a:p>
            <a:pPr algn="ctr"/>
            <a:r>
              <a:rPr sz="1400" b="1">
                <a:solidFill>
                  <a:srgbClr val="202020"/>
                </a:solidFill>
              </a:rPr>
              <a:t>build plan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0" y="4937760"/>
            <a:ext cx="2377440" cy="777240"/>
          </a:xfrm>
          <a:prstGeom prst="roundRect">
            <a:avLst/>
          </a:prstGeom>
          <a:solidFill>
            <a:srgbClr val="E2EFDA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202020"/>
                </a:solidFill>
              </a:rPr>
              <a:t>Post Plan</a:t>
            </a:r>
          </a:p>
          <a:p>
            <a:pPr algn="ctr"/>
            <a:r>
              <a:rPr sz="1400" b="1">
                <a:solidFill>
                  <a:srgbClr val="202020"/>
                </a:solidFill>
              </a:rPr>
              <a:t>(label: ai-plan-posted)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5943600"/>
            <a:ext cx="2377440" cy="777240"/>
          </a:xfrm>
          <a:prstGeom prst="roundRect">
            <a:avLst/>
          </a:prstGeom>
          <a:solidFill>
            <a:srgbClr val="FFE699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202020"/>
                </a:solidFill>
              </a:rPr>
              <a:t>Human Approval</a:t>
            </a:r>
          </a:p>
          <a:p>
            <a:pPr algn="ctr"/>
            <a:r>
              <a:rPr sz="1400" b="1">
                <a:solidFill>
                  <a:srgbClr val="202020"/>
                </a:solidFill>
              </a:rPr>
              <a:t>('approved' / 'lgtm')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6858000"/>
            <a:ext cx="2377440" cy="77724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202020"/>
                </a:solidFill>
              </a:rPr>
              <a:t>Spawn Implementation</a:t>
            </a:r>
          </a:p>
          <a:p>
            <a:pPr algn="ctr"/>
            <a:r>
              <a:rPr sz="1400" b="1">
                <a:solidFill>
                  <a:srgbClr val="202020"/>
                </a:solidFill>
              </a:rPr>
              <a:t>(label: ai-in-progress)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0" y="1691640"/>
            <a:ext cx="0" cy="228600"/>
          </a:xfrm>
          <a:prstGeom prst="line">
            <a:avLst/>
          </a:prstGeom>
          <a:ln w="22225">
            <a:solidFill>
              <a:srgbClr val="1F4E7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315200" y="2697480"/>
            <a:ext cx="0" cy="228600"/>
          </a:xfrm>
          <a:prstGeom prst="line">
            <a:avLst/>
          </a:prstGeom>
          <a:ln w="22225">
            <a:solidFill>
              <a:srgbClr val="1F4E7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3931920" y="3314700"/>
            <a:ext cx="2194560" cy="617220"/>
          </a:xfrm>
          <a:prstGeom prst="line">
            <a:avLst/>
          </a:prstGeom>
          <a:ln w="22225">
            <a:solidFill>
              <a:srgbClr val="1F4E7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321040" y="3314700"/>
            <a:ext cx="2377440" cy="617220"/>
          </a:xfrm>
          <a:prstGeom prst="line">
            <a:avLst/>
          </a:prstGeom>
          <a:ln w="22225">
            <a:solidFill>
              <a:srgbClr val="1F4E7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66359" y="3086100"/>
            <a:ext cx="1371600" cy="274320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1100" b="1">
                <a:solidFill>
                  <a:srgbClr val="C00000"/>
                </a:solidFill>
              </a:rPr>
              <a:t>YES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3086100"/>
            <a:ext cx="1371600" cy="274320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1100" b="1">
                <a:solidFill>
                  <a:srgbClr val="006E2E"/>
                </a:solidFill>
              </a:rPr>
              <a:t>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931920" y="4709159"/>
            <a:ext cx="0" cy="228601"/>
          </a:xfrm>
          <a:prstGeom prst="line">
            <a:avLst/>
          </a:prstGeom>
          <a:ln w="22225">
            <a:solidFill>
              <a:srgbClr val="1F4E7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698480" y="4709159"/>
            <a:ext cx="0" cy="228601"/>
          </a:xfrm>
          <a:prstGeom prst="line">
            <a:avLst/>
          </a:prstGeom>
          <a:ln w="22225">
            <a:solidFill>
              <a:srgbClr val="1F4E7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120640" y="4320540"/>
            <a:ext cx="4389120" cy="1005840"/>
          </a:xfrm>
          <a:prstGeom prst="bentConnector3">
            <a:avLst/>
          </a:prstGeom>
          <a:ln w="22225">
            <a:solidFill>
              <a:srgbClr val="1F4E7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0" y="4526280"/>
            <a:ext cx="3200400" cy="274320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1000" b="1">
                <a:solidFill>
                  <a:srgbClr val="1F4E78"/>
                </a:solidFill>
              </a:rPr>
              <a:t>replies feed techlead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7315200" y="5715000"/>
            <a:ext cx="3383280" cy="228600"/>
          </a:xfrm>
          <a:prstGeom prst="line">
            <a:avLst/>
          </a:prstGeom>
          <a:ln w="22225">
            <a:solidFill>
              <a:srgbClr val="1F4E7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315200" y="6720840"/>
            <a:ext cx="0" cy="137160"/>
          </a:xfrm>
          <a:prstGeom prst="line">
            <a:avLst/>
          </a:prstGeom>
          <a:ln w="22225">
            <a:solidFill>
              <a:srgbClr val="1F4E7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371600" y="7452360"/>
            <a:ext cx="2103120" cy="640080"/>
          </a:xfrm>
          <a:prstGeom prst="roundRect">
            <a:avLst/>
          </a:prstGeom>
          <a:solidFill>
            <a:srgbClr val="FFF2CC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202020"/>
                </a:solidFill>
              </a:rPr>
              <a:t>contract</a:t>
            </a:r>
          </a:p>
          <a:p>
            <a:pPr algn="ctr"/>
            <a:r>
              <a:rPr sz="1100" b="1">
                <a:solidFill>
                  <a:srgbClr val="202020"/>
                </a:solidFill>
              </a:rPr>
              <a:t>(metadata + APIs)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40480" y="7452360"/>
            <a:ext cx="2103120" cy="640080"/>
          </a:xfrm>
          <a:prstGeom prst="roundRect">
            <a:avLst/>
          </a:prstGeom>
          <a:solidFill>
            <a:srgbClr val="FFF2CC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202020"/>
                </a:solidFill>
              </a:rPr>
              <a:t>backend</a:t>
            </a:r>
          </a:p>
          <a:p>
            <a:pPr algn="ctr"/>
            <a:r>
              <a:rPr sz="1100" b="1">
                <a:solidFill>
                  <a:srgbClr val="202020"/>
                </a:solidFill>
              </a:rPr>
              <a:t>(Apex / Flows)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7452360"/>
            <a:ext cx="2103120" cy="640080"/>
          </a:xfrm>
          <a:prstGeom prst="roundRect">
            <a:avLst/>
          </a:prstGeom>
          <a:solidFill>
            <a:srgbClr val="FFF2CC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202020"/>
                </a:solidFill>
              </a:rPr>
              <a:t>frontend</a:t>
            </a:r>
          </a:p>
          <a:p>
            <a:pPr algn="ctr"/>
            <a:r>
              <a:rPr sz="1100" b="1">
                <a:solidFill>
                  <a:srgbClr val="202020"/>
                </a:solidFill>
              </a:rPr>
              <a:t>(LWC / Aura)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474720" y="7772400"/>
            <a:ext cx="365760" cy="0"/>
          </a:xfrm>
          <a:prstGeom prst="line">
            <a:avLst/>
          </a:prstGeom>
          <a:ln w="22225">
            <a:solidFill>
              <a:srgbClr val="1F4E7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943600" y="7772400"/>
            <a:ext cx="365760" cy="0"/>
          </a:xfrm>
          <a:prstGeom prst="line">
            <a:avLst/>
          </a:prstGeom>
          <a:ln w="22225">
            <a:solidFill>
              <a:srgbClr val="1F4E7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2423160" y="7452360"/>
            <a:ext cx="4892040" cy="182880"/>
          </a:xfrm>
          <a:prstGeom prst="bentConnector3">
            <a:avLst/>
          </a:prstGeom>
          <a:ln w="22225">
            <a:solidFill>
              <a:srgbClr val="1F4E7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778240" y="7452360"/>
            <a:ext cx="2468879" cy="640080"/>
          </a:xfrm>
          <a:prstGeom prst="roundRect">
            <a:avLst/>
          </a:prstGeom>
          <a:solidFill>
            <a:srgbClr val="F4CCCC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202020"/>
                </a:solidFill>
              </a:rPr>
              <a:t>Scratch Org Deploy</a:t>
            </a:r>
          </a:p>
          <a:p>
            <a:pPr algn="ctr"/>
            <a:r>
              <a:rPr sz="1100" b="1">
                <a:solidFill>
                  <a:srgbClr val="202020"/>
                </a:solidFill>
              </a:rPr>
              <a:t>+ Validate / Tests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412480" y="7772400"/>
            <a:ext cx="365760" cy="0"/>
          </a:xfrm>
          <a:prstGeom prst="line">
            <a:avLst/>
          </a:prstGeom>
          <a:ln w="22225">
            <a:solidFill>
              <a:srgbClr val="1F4E7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1887200" y="5486400"/>
            <a:ext cx="2377440" cy="68580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202020"/>
                </a:solidFill>
              </a:rPr>
              <a:t>Commit · Push</a:t>
            </a:r>
          </a:p>
          <a:p>
            <a:pPr algn="ctr"/>
            <a:r>
              <a:rPr sz="1100" b="1">
                <a:solidFill>
                  <a:srgbClr val="202020"/>
                </a:solidFill>
              </a:rPr>
              <a:t>Open PR (gh)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887200" y="6400800"/>
            <a:ext cx="2377440" cy="685800"/>
          </a:xfrm>
          <a:prstGeom prst="roundRect">
            <a:avLst/>
          </a:prstGeom>
          <a:solidFill>
            <a:srgbClr val="F4CCCC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202020"/>
                </a:solidFill>
              </a:rPr>
              <a:t>tester agent</a:t>
            </a:r>
          </a:p>
          <a:p>
            <a:pPr algn="ctr"/>
            <a:r>
              <a:rPr sz="1100" b="1">
                <a:solidFill>
                  <a:srgbClr val="202020"/>
                </a:solidFill>
              </a:rPr>
              <a:t>SHA-pinned Report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887200" y="7360920"/>
            <a:ext cx="2377440" cy="685800"/>
          </a:xfrm>
          <a:prstGeom prst="roundRect">
            <a:avLst/>
          </a:prstGeom>
          <a:solidFill>
            <a:srgbClr val="F4CCCC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202020"/>
                </a:solidFill>
              </a:rPr>
              <a:t>dev-fixer (≤3×)</a:t>
            </a:r>
          </a:p>
          <a:p>
            <a:pPr algn="ctr"/>
            <a:r>
              <a:rPr sz="1100" b="1">
                <a:solidFill>
                  <a:srgbClr val="202020"/>
                </a:solidFill>
              </a:rPr>
              <a:t>on failure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11247119" y="5829300"/>
            <a:ext cx="640081" cy="1943100"/>
          </a:xfrm>
          <a:prstGeom prst="bentConnector3">
            <a:avLst/>
          </a:prstGeom>
          <a:ln w="22225">
            <a:solidFill>
              <a:srgbClr val="1F4E7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3075920" y="6172200"/>
            <a:ext cx="0" cy="228600"/>
          </a:xfrm>
          <a:prstGeom prst="line">
            <a:avLst/>
          </a:prstGeom>
          <a:ln w="22225">
            <a:solidFill>
              <a:srgbClr val="1F4E7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3075920" y="7086600"/>
            <a:ext cx="0" cy="274320"/>
          </a:xfrm>
          <a:prstGeom prst="line">
            <a:avLst/>
          </a:prstGeom>
          <a:ln w="22225">
            <a:solidFill>
              <a:srgbClr val="1F4E7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4264640" y="6995160"/>
            <a:ext cx="914400" cy="274320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1000" b="1">
                <a:solidFill>
                  <a:srgbClr val="C00000"/>
                </a:solidFill>
              </a:rPr>
              <a:t>fail</a:t>
            </a:r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11430000" y="6743700"/>
            <a:ext cx="457200" cy="960120"/>
          </a:xfrm>
          <a:prstGeom prst="bentConnector3">
            <a:avLst/>
          </a:prstGeom>
          <a:ln w="22225">
            <a:solidFill>
              <a:srgbClr val="1F4E7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0241280" y="7040880"/>
            <a:ext cx="1463040" cy="274320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1000" b="1">
                <a:solidFill>
                  <a:srgbClr val="1F4E78"/>
                </a:solidFill>
              </a:rPr>
              <a:t>retry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78240" y="5486400"/>
            <a:ext cx="2377440" cy="685800"/>
          </a:xfrm>
          <a:prstGeom prst="roundRect">
            <a:avLst/>
          </a:prstGeom>
          <a:solidFill>
            <a:srgbClr val="E2EFDA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202020"/>
                </a:solidFill>
              </a:rPr>
              <a:t>ai-implemented</a:t>
            </a:r>
          </a:p>
          <a:p>
            <a:pPr algn="ctr"/>
            <a:r>
              <a:rPr sz="1100" b="1">
                <a:solidFill>
                  <a:srgbClr val="202020"/>
                </a:solidFill>
              </a:rPr>
              <a:t>Ready for human merge</a:t>
            </a:r>
          </a:p>
        </p:txBody>
      </p:sp>
      <p:cxnSp>
        <p:nvCxnSpPr>
          <p:cNvPr id="42" name="Connector 41"/>
          <p:cNvCxnSpPr/>
          <p:nvPr/>
        </p:nvCxnSpPr>
        <p:spPr>
          <a:xfrm flipH="1" flipV="1">
            <a:off x="11155680" y="5829300"/>
            <a:ext cx="731520" cy="914400"/>
          </a:xfrm>
          <a:prstGeom prst="bentConnector3">
            <a:avLst/>
          </a:prstGeom>
          <a:ln w="22225">
            <a:solidFill>
              <a:srgbClr val="1F4E7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1155680" y="6035040"/>
            <a:ext cx="914400" cy="274320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1000" b="1">
                <a:solidFill>
                  <a:srgbClr val="006E2E"/>
                </a:solidFill>
              </a:rPr>
              <a:t>pass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777240"/>
            <a:ext cx="228600" cy="228600"/>
          </a:xfrm>
          <a:prstGeom prst="rect">
            <a:avLst/>
          </a:prstGeom>
          <a:solidFill>
            <a:srgbClr val="FCE4D6"/>
          </a:solidFill>
          <a:ln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758952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02020"/>
                </a:solidFill>
              </a:rPr>
              <a:t>Jira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148840" y="777240"/>
            <a:ext cx="228600" cy="228600"/>
          </a:xfrm>
          <a:prstGeom prst="rect">
            <a:avLst/>
          </a:prstGeom>
          <a:solidFill>
            <a:srgbClr val="DEEBF7"/>
          </a:solidFill>
          <a:ln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23160" y="758952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02020"/>
                </a:solidFill>
              </a:rPr>
              <a:t>Orchestrator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931920" y="777240"/>
            <a:ext cx="228600" cy="228600"/>
          </a:xfrm>
          <a:prstGeom prst="rect">
            <a:avLst/>
          </a:prstGeom>
          <a:solidFill>
            <a:srgbClr val="E2EFDA"/>
          </a:solidFill>
          <a:ln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06240" y="758952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02020"/>
                </a:solidFill>
              </a:rPr>
              <a:t>Planning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715000" y="777240"/>
            <a:ext cx="228600" cy="228600"/>
          </a:xfrm>
          <a:prstGeom prst="rect">
            <a:avLst/>
          </a:prstGeom>
          <a:solidFill>
            <a:srgbClr val="FFF2CC"/>
          </a:solidFill>
          <a:ln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89320" y="758952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02020"/>
                </a:solidFill>
              </a:rPr>
              <a:t>Build agents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498079" y="777240"/>
            <a:ext cx="228600" cy="228600"/>
          </a:xfrm>
          <a:prstGeom prst="rect">
            <a:avLst/>
          </a:prstGeom>
          <a:solidFill>
            <a:srgbClr val="F4CCCC"/>
          </a:solidFill>
          <a:ln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0" y="758952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02020"/>
                </a:solidFill>
              </a:rPr>
              <a:t>Quality / Test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81160" y="777240"/>
            <a:ext cx="228600" cy="228600"/>
          </a:xfrm>
          <a:prstGeom prst="rect">
            <a:avLst/>
          </a:prstGeom>
          <a:solidFill>
            <a:srgbClr val="FFE699"/>
          </a:solidFill>
          <a:ln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55480" y="758952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02020"/>
                </a:solidFill>
              </a:rPr>
              <a:t>Human step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064240" y="777240"/>
            <a:ext cx="228600" cy="228600"/>
          </a:xfrm>
          <a:prstGeom prst="rect">
            <a:avLst/>
          </a:prstGeom>
          <a:solidFill>
            <a:srgbClr val="D9D2E9"/>
          </a:solidFill>
          <a:ln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338560" y="758952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02020"/>
                </a:solidFill>
              </a:rPr>
              <a:t>Decision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457200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2400" b="1">
                <a:solidFill>
                  <a:srgbClr val="1F4E78"/>
                </a:solidFill>
              </a:rPr>
              <a:t>Sub-Agent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08659" y="3291840"/>
            <a:ext cx="2011680" cy="1463040"/>
          </a:xfrm>
          <a:prstGeom prst="roundRect">
            <a:avLst/>
          </a:prstGeom>
          <a:solidFill>
            <a:srgbClr val="E2EFDA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02020"/>
                </a:solidFill>
              </a:rPr>
              <a:t>techlead</a:t>
            </a:r>
          </a:p>
          <a:p>
            <a:pPr algn="ctr"/>
          </a:p>
          <a:p>
            <a:pPr algn="ctr"/>
            <a:r>
              <a:rPr sz="1300" b="1">
                <a:solidFill>
                  <a:srgbClr val="202020"/>
                </a:solidFill>
              </a:rPr>
              <a:t>Reads ticket + replies</a:t>
            </a:r>
          </a:p>
          <a:p>
            <a:pPr algn="ctr"/>
            <a:r>
              <a:rPr sz="1300" b="1">
                <a:solidFill>
                  <a:srgbClr val="202020"/>
                </a:solidFill>
              </a:rPr>
              <a:t>Builds plan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48939" y="3291840"/>
            <a:ext cx="2011680" cy="1463040"/>
          </a:xfrm>
          <a:prstGeom prst="roundRect">
            <a:avLst/>
          </a:prstGeom>
          <a:solidFill>
            <a:srgbClr val="FFF2CC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02020"/>
                </a:solidFill>
              </a:rPr>
              <a:t>contract</a:t>
            </a:r>
          </a:p>
          <a:p>
            <a:pPr algn="ctr"/>
          </a:p>
          <a:p>
            <a:pPr algn="ctr"/>
            <a:r>
              <a:rPr sz="1300" b="1">
                <a:solidFill>
                  <a:srgbClr val="202020"/>
                </a:solidFill>
              </a:rPr>
              <a:t>Metadata + APIs</a:t>
            </a:r>
          </a:p>
          <a:p>
            <a:pPr algn="ctr"/>
            <a:r>
              <a:rPr sz="1300" b="1">
                <a:solidFill>
                  <a:srgbClr val="202020"/>
                </a:solidFill>
              </a:rPr>
              <a:t>Permission sets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20339" y="4023360"/>
            <a:ext cx="228600" cy="0"/>
          </a:xfrm>
          <a:prstGeom prst="line">
            <a:avLst/>
          </a:prstGeom>
          <a:ln w="22225">
            <a:solidFill>
              <a:srgbClr val="1F4E7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189220" y="3291840"/>
            <a:ext cx="2011680" cy="1463040"/>
          </a:xfrm>
          <a:prstGeom prst="roundRect">
            <a:avLst/>
          </a:prstGeom>
          <a:solidFill>
            <a:srgbClr val="FFF2CC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02020"/>
                </a:solidFill>
              </a:rPr>
              <a:t>backend</a:t>
            </a:r>
          </a:p>
          <a:p>
            <a:pPr algn="ctr"/>
          </a:p>
          <a:p>
            <a:pPr algn="ctr"/>
            <a:r>
              <a:rPr sz="1300" b="1">
                <a:solidFill>
                  <a:srgbClr val="202020"/>
                </a:solidFill>
              </a:rPr>
              <a:t>Apex classes</a:t>
            </a:r>
          </a:p>
          <a:p>
            <a:pPr algn="ctr"/>
            <a:r>
              <a:rPr sz="1300" b="1">
                <a:solidFill>
                  <a:srgbClr val="202020"/>
                </a:solidFill>
              </a:rPr>
              <a:t>Triggers · Flows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960620" y="4023360"/>
            <a:ext cx="228600" cy="0"/>
          </a:xfrm>
          <a:prstGeom prst="line">
            <a:avLst/>
          </a:prstGeom>
          <a:ln w="22225">
            <a:solidFill>
              <a:srgbClr val="1F4E7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429500" y="3291840"/>
            <a:ext cx="2011680" cy="1463040"/>
          </a:xfrm>
          <a:prstGeom prst="roundRect">
            <a:avLst/>
          </a:prstGeom>
          <a:solidFill>
            <a:srgbClr val="FFF2CC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02020"/>
                </a:solidFill>
              </a:rPr>
              <a:t>frontend</a:t>
            </a:r>
          </a:p>
          <a:p>
            <a:pPr algn="ctr"/>
          </a:p>
          <a:p>
            <a:pPr algn="ctr"/>
            <a:r>
              <a:rPr sz="1300" b="1">
                <a:solidFill>
                  <a:srgbClr val="202020"/>
                </a:solidFill>
              </a:rPr>
              <a:t>LWC / Aura</a:t>
            </a:r>
          </a:p>
          <a:p>
            <a:pPr algn="ctr"/>
            <a:r>
              <a:rPr sz="1300" b="1">
                <a:solidFill>
                  <a:srgbClr val="202020"/>
                </a:solidFill>
              </a:rPr>
              <a:t>components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00900" y="4023360"/>
            <a:ext cx="228600" cy="0"/>
          </a:xfrm>
          <a:prstGeom prst="line">
            <a:avLst/>
          </a:prstGeom>
          <a:ln w="22225">
            <a:solidFill>
              <a:srgbClr val="1F4E7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669780" y="3291840"/>
            <a:ext cx="2011680" cy="1463040"/>
          </a:xfrm>
          <a:prstGeom prst="roundRect">
            <a:avLst/>
          </a:prstGeom>
          <a:solidFill>
            <a:srgbClr val="F4CCCC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02020"/>
                </a:solidFill>
              </a:rPr>
              <a:t>tester</a:t>
            </a:r>
          </a:p>
          <a:p>
            <a:pPr algn="ctr"/>
          </a:p>
          <a:p>
            <a:pPr algn="ctr"/>
            <a:r>
              <a:rPr sz="1300" b="1">
                <a:solidFill>
                  <a:srgbClr val="202020"/>
                </a:solidFill>
              </a:rPr>
              <a:t>Validate · Tests</a:t>
            </a:r>
          </a:p>
          <a:p>
            <a:pPr algn="ctr"/>
            <a:r>
              <a:rPr sz="1300" b="1">
                <a:solidFill>
                  <a:srgbClr val="202020"/>
                </a:solidFill>
              </a:rPr>
              <a:t>SHA-pinned report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41180" y="4023360"/>
            <a:ext cx="228600" cy="0"/>
          </a:xfrm>
          <a:prstGeom prst="line">
            <a:avLst/>
          </a:prstGeom>
          <a:ln w="22225">
            <a:solidFill>
              <a:srgbClr val="1F4E7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1910059" y="3291840"/>
            <a:ext cx="2011680" cy="1463040"/>
          </a:xfrm>
          <a:prstGeom prst="roundRect">
            <a:avLst/>
          </a:prstGeom>
          <a:solidFill>
            <a:srgbClr val="F4CCCC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02020"/>
                </a:solidFill>
              </a:rPr>
              <a:t>dev-fixer</a:t>
            </a:r>
          </a:p>
          <a:p>
            <a:pPr algn="ctr"/>
          </a:p>
          <a:p>
            <a:pPr algn="ctr"/>
            <a:r>
              <a:rPr sz="1300" b="1">
                <a:solidFill>
                  <a:srgbClr val="202020"/>
                </a:solidFill>
              </a:rPr>
              <a:t>Minimal fix</a:t>
            </a:r>
          </a:p>
          <a:p>
            <a:pPr algn="ctr"/>
            <a:r>
              <a:rPr sz="1300" b="1">
                <a:solidFill>
                  <a:srgbClr val="202020"/>
                </a:solidFill>
              </a:rPr>
              <a:t>≤3 attempts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681459" y="4023360"/>
            <a:ext cx="228600" cy="0"/>
          </a:xfrm>
          <a:prstGeom prst="line">
            <a:avLst/>
          </a:prstGeom>
          <a:ln w="22225">
            <a:solidFill>
              <a:srgbClr val="1F4E7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200" y="2286000"/>
            <a:ext cx="13716000" cy="365760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1400" b="0">
                <a:solidFill>
                  <a:srgbClr val="202020"/>
                </a:solidFill>
              </a:rPr>
              <a:t>Each agent is spawned by the orchestrator and writes its own commits.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120640"/>
            <a:ext cx="13716000" cy="365760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</a:rPr>
              <a:t>Hard gates: human approval before build · human merge after PR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457200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2400" b="1">
                <a:solidFill>
                  <a:srgbClr val="1F4E78"/>
                </a:solidFill>
              </a:rPr>
              <a:t>Ticket State Machine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743200"/>
            <a:ext cx="2194560" cy="1097280"/>
          </a:xfrm>
          <a:prstGeom prst="roundRect">
            <a:avLst/>
          </a:prstGeom>
          <a:solidFill>
            <a:srgbClr val="FCE4D6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02020"/>
                </a:solidFill>
              </a:rPr>
              <a:t>NEW</a:t>
            </a:r>
          </a:p>
          <a:p>
            <a:pPr algn="ctr"/>
          </a:p>
          <a:p>
            <a:pPr algn="ctr"/>
            <a:r>
              <a:rPr sz="1300" b="1">
                <a:solidFill>
                  <a:srgbClr val="202020"/>
                </a:solidFill>
              </a:rPr>
              <a:t>(no label)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0" y="2743200"/>
            <a:ext cx="2194560" cy="1097280"/>
          </a:xfrm>
          <a:prstGeom prst="roundRect">
            <a:avLst/>
          </a:prstGeom>
          <a:solidFill>
            <a:srgbClr val="FFE699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02020"/>
                </a:solidFill>
              </a:rPr>
              <a:t>QUESTIONS_ASKED</a:t>
            </a:r>
          </a:p>
          <a:p>
            <a:pPr algn="ctr"/>
          </a:p>
          <a:p>
            <a:pPr algn="ctr"/>
            <a:r>
              <a:rPr sz="1300" b="1">
                <a:solidFill>
                  <a:srgbClr val="202020"/>
                </a:solidFill>
              </a:rPr>
              <a:t>ai-questions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91840" y="3291840"/>
            <a:ext cx="365760" cy="0"/>
          </a:xfrm>
          <a:prstGeom prst="line">
            <a:avLst/>
          </a:prstGeom>
          <a:ln w="22225">
            <a:solidFill>
              <a:srgbClr val="1F4E7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217920" y="2743200"/>
            <a:ext cx="2194560" cy="1097280"/>
          </a:xfrm>
          <a:prstGeom prst="roundRect">
            <a:avLst/>
          </a:prstGeom>
          <a:solidFill>
            <a:srgbClr val="E2EFDA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02020"/>
                </a:solidFill>
              </a:rPr>
              <a:t>PLAN_POSTED</a:t>
            </a:r>
          </a:p>
          <a:p>
            <a:pPr algn="ctr"/>
          </a:p>
          <a:p>
            <a:pPr algn="ctr"/>
            <a:r>
              <a:rPr sz="1300" b="1">
                <a:solidFill>
                  <a:srgbClr val="202020"/>
                </a:solidFill>
              </a:rPr>
              <a:t>ai-plan-posted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52160" y="3291840"/>
            <a:ext cx="365760" cy="0"/>
          </a:xfrm>
          <a:prstGeom prst="line">
            <a:avLst/>
          </a:prstGeom>
          <a:ln w="22225">
            <a:solidFill>
              <a:srgbClr val="1F4E7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8778239" y="2743200"/>
            <a:ext cx="2194560" cy="109728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02020"/>
                </a:solidFill>
              </a:rPr>
              <a:t>IN_PROGRESS</a:t>
            </a:r>
          </a:p>
          <a:p>
            <a:pPr algn="ctr"/>
          </a:p>
          <a:p>
            <a:pPr algn="ctr"/>
            <a:r>
              <a:rPr sz="1300" b="1">
                <a:solidFill>
                  <a:srgbClr val="202020"/>
                </a:solidFill>
              </a:rPr>
              <a:t>ai-in-progress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412480" y="3291840"/>
            <a:ext cx="365759" cy="0"/>
          </a:xfrm>
          <a:prstGeom prst="line">
            <a:avLst/>
          </a:prstGeom>
          <a:ln w="22225">
            <a:solidFill>
              <a:srgbClr val="1F4E7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1338559" y="2743200"/>
            <a:ext cx="2194560" cy="1097280"/>
          </a:xfrm>
          <a:prstGeom prst="roundRect">
            <a:avLst/>
          </a:prstGeom>
          <a:solidFill>
            <a:srgbClr val="FFF2CC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02020"/>
                </a:solidFill>
              </a:rPr>
              <a:t>COMPLETED</a:t>
            </a:r>
          </a:p>
          <a:p>
            <a:pPr algn="ctr"/>
          </a:p>
          <a:p>
            <a:pPr algn="ctr"/>
            <a:r>
              <a:rPr sz="1300" b="1">
                <a:solidFill>
                  <a:srgbClr val="202020"/>
                </a:solidFill>
              </a:rPr>
              <a:t>ai-implemented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972799" y="3291840"/>
            <a:ext cx="365760" cy="0"/>
          </a:xfrm>
          <a:prstGeom prst="line">
            <a:avLst/>
          </a:prstGeom>
          <a:ln w="22225">
            <a:solidFill>
              <a:srgbClr val="1F4E7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937760" y="4937760"/>
            <a:ext cx="2194560" cy="1097280"/>
          </a:xfrm>
          <a:prstGeom prst="roundRect">
            <a:avLst/>
          </a:prstGeom>
          <a:solidFill>
            <a:srgbClr val="F4CCCC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02020"/>
                </a:solidFill>
              </a:rPr>
              <a:t>ERROR</a:t>
            </a:r>
          </a:p>
          <a:p>
            <a:pPr algn="ctr"/>
          </a:p>
          <a:p>
            <a:pPr algn="ctr"/>
            <a:r>
              <a:rPr sz="1300" b="1">
                <a:solidFill>
                  <a:srgbClr val="202020"/>
                </a:solidFill>
              </a:rPr>
              <a:t>ai-error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4937760"/>
            <a:ext cx="2194560" cy="1097280"/>
          </a:xfrm>
          <a:prstGeom prst="roundRect">
            <a:avLst/>
          </a:prstGeom>
          <a:solidFill>
            <a:srgbClr val="F4CCCC"/>
          </a:solidFill>
          <a:ln w="15875">
            <a:solidFill>
              <a:srgbClr val="1F4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02020"/>
                </a:solidFill>
              </a:rPr>
              <a:t>BLOCKED</a:t>
            </a:r>
          </a:p>
          <a:p>
            <a:pPr algn="ctr"/>
          </a:p>
          <a:p>
            <a:pPr algn="ctr"/>
            <a:r>
              <a:rPr sz="1300" b="1">
                <a:solidFill>
                  <a:srgbClr val="202020"/>
                </a:solidFill>
              </a:rPr>
              <a:t>ai-needs-human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09360"/>
            <a:ext cx="13716000" cy="365760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1300" b="0">
                <a:solidFill>
                  <a:srgbClr val="202020"/>
                </a:solidFill>
              </a:rPr>
              <a:t>ERROR = implementation halted · BLOCKED = fix cap (3×) reached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828800"/>
            <a:ext cx="13716000" cy="457200"/>
          </a:xfrm>
          <a:prstGeom prst="rect">
            <a:avLst/>
          </a:prstGeom>
          <a:noFill/>
        </p:spPr>
        <p:txBody>
          <a:bodyPr wrap="none" lIns="18288" rIns="18288" tIns="0" bIns="0">
            <a:spAutoFit/>
          </a:bodyPr>
          <a:lstStyle/>
          <a:p>
            <a:pPr algn="ctr"/>
            <a:r>
              <a:rPr sz="1400" b="0">
                <a:solidFill>
                  <a:srgbClr val="202020"/>
                </a:solidFill>
              </a:rPr>
              <a:t>Driven by Jira labels (single active ai-* label per ticket)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